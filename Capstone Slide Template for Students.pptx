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5"/>
  </p:notesMasterIdLst>
  <p:sldIdLst>
    <p:sldId id="792" r:id="rId3"/>
    <p:sldId id="790" r:id="rId4"/>
    <p:sldId id="261" r:id="rId5"/>
    <p:sldId id="789" r:id="rId6"/>
    <p:sldId id="793" r:id="rId7"/>
    <p:sldId id="794" r:id="rId8"/>
    <p:sldId id="799" r:id="rId9"/>
    <p:sldId id="795" r:id="rId10"/>
    <p:sldId id="798" r:id="rId11"/>
    <p:sldId id="796" r:id="rId12"/>
    <p:sldId id="797" r:id="rId13"/>
    <p:sldId id="791" r:id="rId14"/>
  </p:sldIdLst>
  <p:sldSz cx="9902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67B"/>
    <a:srgbClr val="193EB0"/>
    <a:srgbClr val="1429A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4" autoAdjust="0"/>
    <p:restoredTop sz="72205" autoAdjust="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>
        <p:guide pos="3119"/>
        <p:guide orient="horz" pos="2183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9C55F-00F1-4985-9065-F2D92AE05D0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102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73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30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606896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AC93F9AC-4BB5-4E2D-8093-19270B267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007" y="2524714"/>
            <a:ext cx="4616240" cy="13299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399">
                <a:latin typeface="Samsung Sharp Sans"/>
              </a:defRPr>
            </a:lvl1pPr>
          </a:lstStyle>
          <a:p>
            <a:pPr lvl="0"/>
            <a:r>
              <a:rPr lang="en-US"/>
              <a:t>Title 1</a:t>
            </a:r>
          </a:p>
          <a:p>
            <a:pPr lvl="0"/>
            <a:r>
              <a:rPr lang="en-US"/>
              <a:t>Title 2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70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3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-300" panose="020B0303030303020204" pitchFamily="34" charset="0"/>
                <a:ea typeface="SamsungOne-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843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pPr marL="0" marR="0" lvl="0" indent="0" algn="r" defTabSz="8438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-400" panose="020B0503030303020204" pitchFamily="34" charset="0"/>
              <a:ea typeface="SamsungOne-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5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8045EE-4149-4D34-BDD0-4CED7F53CB86}"/>
              </a:ext>
            </a:extLst>
          </p:cNvPr>
          <p:cNvSpPr/>
          <p:nvPr userDrawn="1"/>
        </p:nvSpPr>
        <p:spPr>
          <a:xfrm>
            <a:off x="719769" y="2095280"/>
            <a:ext cx="59989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1914">
              <a:defRPr/>
            </a:pPr>
            <a:endParaRPr lang="ko-KR" altLang="en-US" sz="1662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8DECC6-E1CF-42DF-AFF2-431EEB2BDEB9}"/>
              </a:ext>
            </a:extLst>
          </p:cNvPr>
          <p:cNvSpPr/>
          <p:nvPr userDrawn="1"/>
        </p:nvSpPr>
        <p:spPr>
          <a:xfrm>
            <a:off x="719769" y="4157762"/>
            <a:ext cx="59989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1914">
              <a:defRPr/>
            </a:pPr>
            <a:endParaRPr lang="ko-KR" altLang="en-US" sz="1662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1" name="텍스트 개체 틀 19">
            <a:extLst>
              <a:ext uri="{FF2B5EF4-FFF2-40B4-BE49-F238E27FC236}">
                <a16:creationId xmlns:a16="http://schemas.microsoft.com/office/drawing/2014/main" id="{99B695B2-CFFD-4F01-8492-DC3B0949AD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007" y="2066881"/>
            <a:ext cx="5475500" cy="310896"/>
          </a:xfrm>
          <a:prstGeom prst="rect">
            <a:avLst/>
          </a:prstGeom>
        </p:spPr>
        <p:txBody>
          <a:bodyPr lIns="0" tIns="0"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999">
                <a:solidFill>
                  <a:schemeClr val="bg1">
                    <a:lumMod val="50000"/>
                  </a:schemeClr>
                </a:solidFill>
                <a:latin typeface="Samsung Sharp Sans"/>
              </a:defRPr>
            </a:lvl1pPr>
          </a:lstStyle>
          <a:p>
            <a:pPr lvl="0"/>
            <a:r>
              <a:rPr lang="en-US"/>
              <a:t>Chapter 1.</a:t>
            </a:r>
          </a:p>
        </p:txBody>
      </p:sp>
      <p:sp>
        <p:nvSpPr>
          <p:cNvPr id="18" name="직사각형 133">
            <a:extLst>
              <a:ext uri="{FF2B5EF4-FFF2-40B4-BE49-F238E27FC236}">
                <a16:creationId xmlns:a16="http://schemas.microsoft.com/office/drawing/2014/main" id="{E9FB640B-46E8-4BA3-B89E-CF58C8027238}"/>
              </a:ext>
            </a:extLst>
          </p:cNvPr>
          <p:cNvSpPr/>
          <p:nvPr userDrawn="1"/>
        </p:nvSpPr>
        <p:spPr>
          <a:xfrm>
            <a:off x="989683" y="4157758"/>
            <a:ext cx="2631915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063">
              <a:defRPr/>
            </a:pPr>
            <a:r>
              <a:rPr lang="en-US" altLang="ko-KR" sz="2099" dirty="0">
                <a:solidFill>
                  <a:srgbClr val="1428A0"/>
                </a:solidFill>
                <a:latin typeface="Samsung Sharp Sans"/>
                <a:ea typeface="Samsung Sharp Sans Regular" pitchFamily="2" charset="0"/>
                <a:cs typeface="Samsung Sharp Sans Regular" pitchFamily="2" charset="0"/>
              </a:rPr>
              <a:t>AI Course</a:t>
            </a:r>
            <a:endParaRPr lang="ko-KR" altLang="en-US" sz="2099" dirty="0">
              <a:solidFill>
                <a:srgbClr val="1428A0"/>
              </a:solidFill>
              <a:latin typeface="Samsung Sharp Sans"/>
              <a:ea typeface="Samsung Sharp Sans Regular" pitchFamily="2" charset="0"/>
              <a:cs typeface="Samsung Sharp Sans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462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4">
          <p15:clr>
            <a:srgbClr val="FBAE40"/>
          </p15:clr>
        </p15:guide>
        <p15:guide id="3" pos="4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2021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49443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69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66646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43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2641721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872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Capstone Project Student’s Guide</a:t>
            </a:r>
          </a:p>
        </p:txBody>
      </p:sp>
    </p:spTree>
    <p:extLst>
      <p:ext uri="{BB962C8B-B14F-4D97-AF65-F5344CB8AC3E}">
        <p14:creationId xmlns:p14="http://schemas.microsoft.com/office/powerpoint/2010/main" val="340498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609230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30124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52440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41361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2021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3764626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87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AC93F9AC-4BB5-4E2D-8093-19270B267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007" y="2524714"/>
            <a:ext cx="4616240" cy="13299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399">
                <a:latin typeface="Samsung Sharp Sans"/>
              </a:defRPr>
            </a:lvl1pPr>
          </a:lstStyle>
          <a:p>
            <a:pPr lvl="0"/>
            <a:r>
              <a:rPr lang="en-US"/>
              <a:t>Title 1</a:t>
            </a:r>
          </a:p>
          <a:p>
            <a:pPr lvl="0"/>
            <a:r>
              <a:rPr lang="en-US"/>
              <a:t>Title 2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70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3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-300" panose="020B0303030303020204" pitchFamily="34" charset="0"/>
                <a:ea typeface="SamsungOne-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843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pPr marL="0" marR="0" lvl="0" indent="0" algn="r" defTabSz="8438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-400" panose="020B0503030303020204" pitchFamily="34" charset="0"/>
              <a:ea typeface="SamsungOne-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5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8045EE-4149-4D34-BDD0-4CED7F53CB86}"/>
              </a:ext>
            </a:extLst>
          </p:cNvPr>
          <p:cNvSpPr/>
          <p:nvPr userDrawn="1"/>
        </p:nvSpPr>
        <p:spPr>
          <a:xfrm>
            <a:off x="719769" y="2095280"/>
            <a:ext cx="59989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1914">
              <a:defRPr/>
            </a:pPr>
            <a:endParaRPr lang="ko-KR" altLang="en-US" sz="1662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8DECC6-E1CF-42DF-AFF2-431EEB2BDEB9}"/>
              </a:ext>
            </a:extLst>
          </p:cNvPr>
          <p:cNvSpPr/>
          <p:nvPr userDrawn="1"/>
        </p:nvSpPr>
        <p:spPr>
          <a:xfrm>
            <a:off x="719769" y="4157762"/>
            <a:ext cx="59989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1914">
              <a:defRPr/>
            </a:pPr>
            <a:endParaRPr lang="ko-KR" altLang="en-US" sz="1662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1" name="텍스트 개체 틀 19">
            <a:extLst>
              <a:ext uri="{FF2B5EF4-FFF2-40B4-BE49-F238E27FC236}">
                <a16:creationId xmlns:a16="http://schemas.microsoft.com/office/drawing/2014/main" id="{99B695B2-CFFD-4F01-8492-DC3B0949AD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007" y="2066881"/>
            <a:ext cx="5475500" cy="310896"/>
          </a:xfrm>
          <a:prstGeom prst="rect">
            <a:avLst/>
          </a:prstGeom>
        </p:spPr>
        <p:txBody>
          <a:bodyPr lIns="0" tIns="0"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999">
                <a:solidFill>
                  <a:schemeClr val="bg1">
                    <a:lumMod val="50000"/>
                  </a:schemeClr>
                </a:solidFill>
                <a:latin typeface="Samsung Sharp Sans"/>
              </a:defRPr>
            </a:lvl1pPr>
          </a:lstStyle>
          <a:p>
            <a:pPr lvl="0"/>
            <a:r>
              <a:rPr lang="en-US"/>
              <a:t>Chapter 1.</a:t>
            </a:r>
          </a:p>
        </p:txBody>
      </p:sp>
      <p:sp>
        <p:nvSpPr>
          <p:cNvPr id="18" name="직사각형 133">
            <a:extLst>
              <a:ext uri="{FF2B5EF4-FFF2-40B4-BE49-F238E27FC236}">
                <a16:creationId xmlns:a16="http://schemas.microsoft.com/office/drawing/2014/main" id="{E9FB640B-46E8-4BA3-B89E-CF58C8027238}"/>
              </a:ext>
            </a:extLst>
          </p:cNvPr>
          <p:cNvSpPr/>
          <p:nvPr userDrawn="1"/>
        </p:nvSpPr>
        <p:spPr>
          <a:xfrm>
            <a:off x="989683" y="4157758"/>
            <a:ext cx="2631915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063">
              <a:defRPr/>
            </a:pPr>
            <a:r>
              <a:rPr lang="en-US" altLang="ko-KR" sz="2099" dirty="0">
                <a:solidFill>
                  <a:srgbClr val="1428A0"/>
                </a:solidFill>
                <a:latin typeface="Samsung Sharp Sans"/>
                <a:ea typeface="Samsung Sharp Sans Regular" pitchFamily="2" charset="0"/>
                <a:cs typeface="Samsung Sharp Sans Regular" pitchFamily="2" charset="0"/>
              </a:rPr>
              <a:t>AI Course</a:t>
            </a:r>
            <a:endParaRPr lang="ko-KR" altLang="en-US" sz="2099" dirty="0">
              <a:solidFill>
                <a:srgbClr val="1428A0"/>
              </a:solidFill>
              <a:latin typeface="Samsung Sharp Sans"/>
              <a:ea typeface="Samsung Sharp Sans Regular" pitchFamily="2" charset="0"/>
              <a:cs typeface="Samsung Sharp Sans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442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4">
          <p15:clr>
            <a:srgbClr val="FBAE40"/>
          </p15:clr>
        </p15:guide>
        <p15:guide id="3" pos="4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80" r:id="rId3"/>
    <p:sldLayoutId id="2147483693" r:id="rId4"/>
    <p:sldLayoutId id="2147483694" r:id="rId5"/>
    <p:sldLayoutId id="2147483695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3816">
          <p15:clr>
            <a:srgbClr val="F26B43"/>
          </p15:clr>
        </p15:guide>
        <p15:guide id="1" orient="horz" pos="3997">
          <p15:clr>
            <a:srgbClr val="F26B43"/>
          </p15:clr>
        </p15:guide>
        <p15:guide id="2" pos="352">
          <p15:clr>
            <a:srgbClr val="F26B43"/>
          </p15:clr>
        </p15:guide>
        <p15:guide id="3" pos="5886">
          <p15:clr>
            <a:srgbClr val="F26B43"/>
          </p15:clr>
        </p15:guide>
        <p15:guide id="4" orient="horz" pos="323">
          <p15:clr>
            <a:srgbClr val="F26B43"/>
          </p15:clr>
        </p15:guide>
        <p15:guide id="5" orient="horz" pos="22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33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532123"/>
            <a:ext cx="6419031" cy="1719000"/>
          </a:xfrm>
        </p:spPr>
        <p:txBody>
          <a:bodyPr/>
          <a:lstStyle/>
          <a:p>
            <a:r>
              <a:rPr lang="en-US" altLang="ko-KR" dirty="0"/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3572608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F44C61-D919-4428-8B7A-D05C22D2B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4725" y="2315279"/>
            <a:ext cx="7982171" cy="1329506"/>
          </a:xfrm>
        </p:spPr>
        <p:txBody>
          <a:bodyPr/>
          <a:lstStyle/>
          <a:p>
            <a:r>
              <a:rPr lang="en-US" sz="4000" dirty="0"/>
              <a:t>Fake News &amp; Misinformation Detector</a:t>
            </a:r>
            <a:endParaRPr lang="en-US" altLang="ko-KR" sz="4000" dirty="0"/>
          </a:p>
        </p:txBody>
      </p:sp>
      <p:sp>
        <p:nvSpPr>
          <p:cNvPr id="3" name="직사각형 133">
            <a:extLst>
              <a:ext uri="{FF2B5EF4-FFF2-40B4-BE49-F238E27FC236}">
                <a16:creationId xmlns:a16="http://schemas.microsoft.com/office/drawing/2014/main" id="{5BE4CBA7-B2DE-4D34-8EE6-EC228375E823}"/>
              </a:ext>
            </a:extLst>
          </p:cNvPr>
          <p:cNvSpPr/>
          <p:nvPr/>
        </p:nvSpPr>
        <p:spPr>
          <a:xfrm>
            <a:off x="945929" y="3344347"/>
            <a:ext cx="547971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sz="2400" spc="-60" dirty="0">
                <a:solidFill>
                  <a:schemeClr val="tx1"/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6600" dirty="0">
              <a:solidFill>
                <a:schemeClr val="tx1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9C9893-C338-FBCD-8915-14A31141B936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52A5F-5F4C-8757-9974-575D22657AAF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4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133">
            <a:extLst>
              <a:ext uri="{FF2B5EF4-FFF2-40B4-BE49-F238E27FC236}">
                <a16:creationId xmlns:a16="http://schemas.microsoft.com/office/drawing/2014/main" id="{6F7B47BD-258F-4F64-9422-12BCE02D0EE2}"/>
              </a:ext>
            </a:extLst>
          </p:cNvPr>
          <p:cNvSpPr/>
          <p:nvPr/>
        </p:nvSpPr>
        <p:spPr>
          <a:xfrm>
            <a:off x="454147" y="306692"/>
            <a:ext cx="8353948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sz="2800" dirty="0"/>
              <a:t>Fake News &amp; Misinformation Detector</a:t>
            </a:r>
            <a:endParaRPr lang="en-US" altLang="ko-KR" sz="2800" dirty="0"/>
          </a:p>
        </p:txBody>
      </p:sp>
      <p:grpSp>
        <p:nvGrpSpPr>
          <p:cNvPr id="29" name="Group 1">
            <a:extLst>
              <a:ext uri="{FF2B5EF4-FFF2-40B4-BE49-F238E27FC236}">
                <a16:creationId xmlns:a16="http://schemas.microsoft.com/office/drawing/2014/main" id="{DC6F8C60-5F91-4AF4-A2B4-D2C4302BB33F}"/>
              </a:ext>
            </a:extLst>
          </p:cNvPr>
          <p:cNvGrpSpPr/>
          <p:nvPr/>
        </p:nvGrpSpPr>
        <p:grpSpPr>
          <a:xfrm>
            <a:off x="528795" y="1745972"/>
            <a:ext cx="4379913" cy="278172"/>
            <a:chOff x="4181256" y="3224809"/>
            <a:chExt cx="4379913" cy="278172"/>
          </a:xfrm>
        </p:grpSpPr>
        <p:sp>
          <p:nvSpPr>
            <p:cNvPr id="38" name="직사각형 37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UNIT 1.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Introduction.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/>
            </a:p>
          </p:txBody>
        </p:sp>
      </p:grpSp>
      <p:grpSp>
        <p:nvGrpSpPr>
          <p:cNvPr id="22" name="Group 1">
            <a:extLst>
              <a:ext uri="{FF2B5EF4-FFF2-40B4-BE49-F238E27FC236}">
                <a16:creationId xmlns:a16="http://schemas.microsoft.com/office/drawing/2014/main" id="{7D0214F6-55D5-4943-ABF3-DD8494318B52}"/>
              </a:ext>
            </a:extLst>
          </p:cNvPr>
          <p:cNvGrpSpPr/>
          <p:nvPr/>
        </p:nvGrpSpPr>
        <p:grpSpPr>
          <a:xfrm>
            <a:off x="528795" y="2274865"/>
            <a:ext cx="4379913" cy="278172"/>
            <a:chOff x="4181256" y="3224809"/>
            <a:chExt cx="4379913" cy="278172"/>
          </a:xfrm>
        </p:grpSpPr>
        <p:sp>
          <p:nvSpPr>
            <p:cNvPr id="23" name="직사각형 37">
              <a:extLst>
                <a:ext uri="{FF2B5EF4-FFF2-40B4-BE49-F238E27FC236}">
                  <a16:creationId xmlns:a16="http://schemas.microsoft.com/office/drawing/2014/main" id="{D865D17B-F777-4FD2-8230-F732FA95C4AA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UNIT 2.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Problem Statement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</a:endParaRPr>
            </a:p>
          </p:txBody>
        </p:sp>
        <p:sp>
          <p:nvSpPr>
            <p:cNvPr id="24" name="직사각형 38">
              <a:extLst>
                <a:ext uri="{FF2B5EF4-FFF2-40B4-BE49-F238E27FC236}">
                  <a16:creationId xmlns:a16="http://schemas.microsoft.com/office/drawing/2014/main" id="{E23B952E-EE2F-4202-8442-CDF50A9B0AD6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/>
            </a:p>
          </p:txBody>
        </p:sp>
      </p:grpSp>
      <p:grpSp>
        <p:nvGrpSpPr>
          <p:cNvPr id="26" name="Group 1">
            <a:extLst>
              <a:ext uri="{FF2B5EF4-FFF2-40B4-BE49-F238E27FC236}">
                <a16:creationId xmlns:a16="http://schemas.microsoft.com/office/drawing/2014/main" id="{B04F504A-8F12-4222-8233-E8A01A62BE7F}"/>
              </a:ext>
            </a:extLst>
          </p:cNvPr>
          <p:cNvGrpSpPr/>
          <p:nvPr/>
        </p:nvGrpSpPr>
        <p:grpSpPr>
          <a:xfrm>
            <a:off x="528795" y="2775410"/>
            <a:ext cx="4379912" cy="630942"/>
            <a:chOff x="4181256" y="3204081"/>
            <a:chExt cx="4379912" cy="630942"/>
          </a:xfrm>
        </p:grpSpPr>
        <p:sp>
          <p:nvSpPr>
            <p:cNvPr id="27" name="직사각형 37">
              <a:extLst>
                <a:ext uri="{FF2B5EF4-FFF2-40B4-BE49-F238E27FC236}">
                  <a16:creationId xmlns:a16="http://schemas.microsoft.com/office/drawing/2014/main" id="{842BA52B-D28D-4DA4-ABFF-1D65A88FF870}"/>
                </a:ext>
              </a:extLst>
            </p:cNvPr>
            <p:cNvSpPr/>
            <p:nvPr/>
          </p:nvSpPr>
          <p:spPr>
            <a:xfrm>
              <a:off x="4364135" y="3204081"/>
              <a:ext cx="4197033" cy="6309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3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.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Solution Overview</a:t>
              </a:r>
            </a:p>
            <a:p>
              <a:pPr>
                <a:spcAft>
                  <a:spcPts val="600"/>
                </a:spcAft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	 3.2 TF-IDF &amp; Word2Vec Results</a:t>
              </a:r>
            </a:p>
          </p:txBody>
        </p:sp>
        <p:sp>
          <p:nvSpPr>
            <p:cNvPr id="28" name="직사각형 38">
              <a:extLst>
                <a:ext uri="{FF2B5EF4-FFF2-40B4-BE49-F238E27FC236}">
                  <a16:creationId xmlns:a16="http://schemas.microsoft.com/office/drawing/2014/main" id="{DAE37420-EEA4-419E-A084-4EE55B9A58E2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0A53F42-D9FD-14E8-4BBF-0C9D52F1851E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88AFC-8C42-B3D9-210E-0130EC5EFBA9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9F8A9D23-3781-7C8A-9E07-C6F083B58880}"/>
              </a:ext>
            </a:extLst>
          </p:cNvPr>
          <p:cNvGrpSpPr/>
          <p:nvPr/>
        </p:nvGrpSpPr>
        <p:grpSpPr>
          <a:xfrm>
            <a:off x="528795" y="3559744"/>
            <a:ext cx="4379911" cy="630942"/>
            <a:chOff x="4181256" y="3161338"/>
            <a:chExt cx="4379911" cy="630942"/>
          </a:xfrm>
        </p:grpSpPr>
        <p:sp>
          <p:nvSpPr>
            <p:cNvPr id="5" name="직사각형 37">
              <a:extLst>
                <a:ext uri="{FF2B5EF4-FFF2-40B4-BE49-F238E27FC236}">
                  <a16:creationId xmlns:a16="http://schemas.microsoft.com/office/drawing/2014/main" id="{9BD2FD74-B1C4-F6B4-6E84-DAA9E16CF57B}"/>
                </a:ext>
              </a:extLst>
            </p:cNvPr>
            <p:cNvSpPr/>
            <p:nvPr/>
          </p:nvSpPr>
          <p:spPr>
            <a:xfrm>
              <a:off x="4364134" y="3161338"/>
              <a:ext cx="4197033" cy="6309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ar-SA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4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.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Key Results</a:t>
              </a:r>
            </a:p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	 4.2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Models Results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</a:endParaRPr>
            </a:p>
          </p:txBody>
        </p:sp>
        <p:sp>
          <p:nvSpPr>
            <p:cNvPr id="7" name="직사각형 38">
              <a:extLst>
                <a:ext uri="{FF2B5EF4-FFF2-40B4-BE49-F238E27FC236}">
                  <a16:creationId xmlns:a16="http://schemas.microsoft.com/office/drawing/2014/main" id="{765F3B73-89CF-4A47-0D64-DF6696BCAE13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/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6AF9878C-126C-5982-1157-B9F72DCE3678}"/>
              </a:ext>
            </a:extLst>
          </p:cNvPr>
          <p:cNvGrpSpPr/>
          <p:nvPr/>
        </p:nvGrpSpPr>
        <p:grpSpPr>
          <a:xfrm>
            <a:off x="528795" y="4410903"/>
            <a:ext cx="4379913" cy="278172"/>
            <a:chOff x="4181256" y="3224809"/>
            <a:chExt cx="4379913" cy="278172"/>
          </a:xfrm>
        </p:grpSpPr>
        <p:sp>
          <p:nvSpPr>
            <p:cNvPr id="9" name="직사각형 37">
              <a:extLst>
                <a:ext uri="{FF2B5EF4-FFF2-40B4-BE49-F238E27FC236}">
                  <a16:creationId xmlns:a16="http://schemas.microsoft.com/office/drawing/2014/main" id="{7BC78A37-45E9-2243-A5E5-35502E8704A3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ar-SA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5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.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Application &amp; Future Impact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</a:endParaRP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D1313482-A622-B640-F65B-0D91E7D858A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/>
            </a:p>
          </p:txBody>
        </p:sp>
      </p:grpSp>
      <p:grpSp>
        <p:nvGrpSpPr>
          <p:cNvPr id="11" name="Group 1">
            <a:extLst>
              <a:ext uri="{FF2B5EF4-FFF2-40B4-BE49-F238E27FC236}">
                <a16:creationId xmlns:a16="http://schemas.microsoft.com/office/drawing/2014/main" id="{392405FA-7DF4-2F5B-B2F1-87EA6921D952}"/>
              </a:ext>
            </a:extLst>
          </p:cNvPr>
          <p:cNvGrpSpPr/>
          <p:nvPr/>
        </p:nvGrpSpPr>
        <p:grpSpPr>
          <a:xfrm>
            <a:off x="528795" y="4981492"/>
            <a:ext cx="4379913" cy="278172"/>
            <a:chOff x="4181256" y="3224809"/>
            <a:chExt cx="4379913" cy="278172"/>
          </a:xfrm>
        </p:grpSpPr>
        <p:sp>
          <p:nvSpPr>
            <p:cNvPr id="12" name="직사각형 37">
              <a:extLst>
                <a:ext uri="{FF2B5EF4-FFF2-40B4-BE49-F238E27FC236}">
                  <a16:creationId xmlns:a16="http://schemas.microsoft.com/office/drawing/2014/main" id="{2A48E651-D7A5-82CC-E2B9-B092E8DA51E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ar-SA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6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.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</a:rPr>
                <a:t>Conclusion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</a:endParaRPr>
            </a:p>
          </p:txBody>
        </p:sp>
        <p:sp>
          <p:nvSpPr>
            <p:cNvPr id="13" name="직사각형 38">
              <a:extLst>
                <a:ext uri="{FF2B5EF4-FFF2-40B4-BE49-F238E27FC236}">
                  <a16:creationId xmlns:a16="http://schemas.microsoft.com/office/drawing/2014/main" id="{736854A7-9FE2-CF22-375E-04229D37515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417476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45" y="1278277"/>
            <a:ext cx="8541187" cy="430887"/>
          </a:xfrm>
        </p:spPr>
        <p:txBody>
          <a:bodyPr/>
          <a:lstStyle/>
          <a:p>
            <a:r>
              <a:rPr lang="en-US" sz="2800" b="1" dirty="0"/>
              <a:t>     Introduction</a:t>
            </a:r>
            <a:r>
              <a:rPr lang="ar-SA" sz="2800" b="1" dirty="0"/>
              <a:t>:</a:t>
            </a:r>
            <a:endParaRPr lang="en-US" sz="28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DBDE260-C148-F6F3-D8A6-BC9D7FC162C4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523923" y="2249142"/>
            <a:ext cx="885497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Fake news spreads very fast on the internet and affects people and society.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None/>
            </a:pPr>
            <a:r>
              <a:rPr kumimoji="0" lang="en-US" altLang="ko-KR" sz="1800" dirty="0">
                <a:solidFill>
                  <a:schemeClr val="tx1"/>
                </a:solidFill>
                <a:latin typeface="Arial" panose="020B0604020202020204" pitchFamily="34" charset="0"/>
              </a:rPr>
              <a:t>   It can change public opinion.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None/>
            </a:pPr>
            <a:endParaRPr kumimoji="0"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800" dirty="0">
                <a:solidFill>
                  <a:schemeClr val="tx1"/>
                </a:solidFill>
                <a:latin typeface="Arial" panose="020B0604020202020204" pitchFamily="34" charset="0"/>
              </a:rPr>
              <a:t>Our project builds a smart system to detect fake news with good  </a:t>
            </a:r>
          </a:p>
          <a:p>
            <a:pPr marL="0" marR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None/>
              <a:tabLst/>
            </a:pPr>
            <a:r>
              <a:rPr kumimoji="0" lang="en-US" altLang="ko-KR" sz="1800" dirty="0">
                <a:solidFill>
                  <a:schemeClr val="tx1"/>
                </a:solidFill>
                <a:latin typeface="Arial" panose="020B0604020202020204" pitchFamily="34" charset="0"/>
              </a:rPr>
              <a:t>   accuracy</a:t>
            </a:r>
          </a:p>
          <a:p>
            <a:pPr marL="0" marR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None/>
              <a:tabLst/>
            </a:pPr>
            <a:endParaRPr kumimoji="0" lang="en-US" altLang="ko-KR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93E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800" dirty="0">
                <a:solidFill>
                  <a:schemeClr val="tx1"/>
                </a:solidFill>
                <a:latin typeface="Arial" panose="020B0604020202020204" pitchFamily="34" charset="0"/>
              </a:rPr>
              <a:t>We use text features and machine learning to make this system work.</a:t>
            </a:r>
            <a:endParaRPr kumimoji="0"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A2B0B-688F-4197-2623-9B235762BD1B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C91B8-228F-6B43-2D5E-30A7F8D7E2C3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3FF99-C7C9-84A4-8C95-B70D15873A5E}"/>
              </a:ext>
            </a:extLst>
          </p:cNvPr>
          <p:cNvSpPr txBox="1"/>
          <p:nvPr/>
        </p:nvSpPr>
        <p:spPr>
          <a:xfrm>
            <a:off x="8692516" y="338189"/>
            <a:ext cx="89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521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47B2-E9D7-55D6-A184-87E648FB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75" y="1223223"/>
            <a:ext cx="8541187" cy="430887"/>
          </a:xfrm>
        </p:spPr>
        <p:txBody>
          <a:bodyPr/>
          <a:lstStyle/>
          <a:p>
            <a:r>
              <a:rPr lang="en-US" sz="2800" b="1" dirty="0"/>
              <a:t>Problem Statement:</a:t>
            </a:r>
            <a:endParaRPr lang="en-US" sz="2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CF1BA4-046A-92B9-0023-62C9F1A4EE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375" y="2037326"/>
            <a:ext cx="8055439" cy="2325340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Misinformation spreads faster than verified news on social media platforms.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Manual fact-checking is slow and cannot keep up with online content.</a:t>
            </a:r>
            <a:endParaRPr lang="en-US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Readers often struggle to differentiate between real news and fake news.</a:t>
            </a:r>
            <a:endParaRPr lang="en-US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need an intelligence system to help detect misinformation</a:t>
            </a:r>
            <a:r>
              <a:rPr lang="en-US" sz="1800" dirty="0"/>
              <a:t>.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479A13F0-920D-D444-8E87-20721B7AC047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449375" y="307415"/>
            <a:ext cx="6837363" cy="27781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B481BD-B7B7-DCF3-A4F4-E830916C75EB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FEA013-DD7A-0F09-CEE6-F3BD884BE091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47877-6655-0905-3AD6-55DFA5E2815F}"/>
              </a:ext>
            </a:extLst>
          </p:cNvPr>
          <p:cNvSpPr txBox="1"/>
          <p:nvPr/>
        </p:nvSpPr>
        <p:spPr>
          <a:xfrm>
            <a:off x="8692516" y="338189"/>
            <a:ext cx="89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2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48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AC97F-F4A0-CDDD-3E62-AF4E0B71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7" y="1209301"/>
            <a:ext cx="8541187" cy="430887"/>
          </a:xfrm>
        </p:spPr>
        <p:txBody>
          <a:bodyPr/>
          <a:lstStyle/>
          <a:p>
            <a:r>
              <a:rPr lang="en-US" sz="2800" b="1" dirty="0"/>
              <a:t>Solution Overview:</a:t>
            </a:r>
            <a:endParaRPr lang="en-US" sz="2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A88EFE-55CD-7FC8-0B41-59963A9579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1978090"/>
            <a:ext cx="8468367" cy="4043148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Dataset:</a:t>
            </a:r>
            <a:r>
              <a:rPr lang="en-US" sz="1800" dirty="0"/>
              <a:t> We takes the data from Kaggle Fake News Classification that we use it to build the system. 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Preprocessing:</a:t>
            </a:r>
            <a:r>
              <a:rPr lang="en-US" sz="1800" dirty="0"/>
              <a:t> Cleaning text, converting to numerical features like TF-IDF and Word2Vec.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Features: </a:t>
            </a:r>
            <a:r>
              <a:rPr lang="en-US" altLang="ko-KR" sz="1800" dirty="0"/>
              <a:t>Title, Text, Label (0,1), </a:t>
            </a:r>
            <a:r>
              <a:rPr lang="en-US" altLang="ko-KR" sz="1800" dirty="0" err="1"/>
              <a:t>full_text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clean_text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Classical machine learning:  </a:t>
            </a:r>
            <a:r>
              <a:rPr lang="en-US" sz="1800" dirty="0"/>
              <a:t>Logistic Regression and SVM.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Deep Learning: </a:t>
            </a:r>
            <a:r>
              <a:rPr lang="en-US" sz="1800" dirty="0"/>
              <a:t>LSTM.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800" b="1" dirty="0"/>
              <a:t>Evaluation</a:t>
            </a:r>
            <a:r>
              <a:rPr lang="en-US" altLang="ko-KR" sz="1800" dirty="0"/>
              <a:t>: using performance measured like accuracy, precision, recall, and using ROC curve and </a:t>
            </a:r>
            <a:r>
              <a:rPr lang="en-US" sz="1800" spc="-60" dirty="0">
                <a:effectLst/>
                <a:latin typeface="SamsungOne 400" panose="020B0503030303020204"/>
                <a:ea typeface="Malgun Gothic" panose="020B0503020000020004" pitchFamily="34" charset="-127"/>
                <a:cs typeface="Times New Roman" panose="02020603050405020304" pitchFamily="18" charset="0"/>
              </a:rPr>
              <a:t>confusion matrix.</a:t>
            </a:r>
            <a:endParaRPr lang="en-US" altLang="ko-KR" sz="1800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F269DCA-0568-2ACD-C489-3DE3E3C95D04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56E93-EE66-C9F9-982B-66C103553D39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E27C4-0622-A851-DD48-7325944BEA21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15D51-E549-4B4B-16D9-4D2CD7CB5BC3}"/>
              </a:ext>
            </a:extLst>
          </p:cNvPr>
          <p:cNvSpPr txBox="1"/>
          <p:nvPr/>
        </p:nvSpPr>
        <p:spPr>
          <a:xfrm>
            <a:off x="8692516" y="338189"/>
            <a:ext cx="89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26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5DD3-798A-E3AC-B509-4A9CD97E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C291-8F9D-45EA-810D-D3FE1744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7" y="1188790"/>
            <a:ext cx="8541187" cy="492443"/>
          </a:xfrm>
        </p:spPr>
        <p:txBody>
          <a:bodyPr/>
          <a:lstStyle/>
          <a:p>
            <a:r>
              <a:rPr lang="en-US" altLang="en-US" b="1" dirty="0"/>
              <a:t>TF-IDF &amp; Word2Vec Results: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511C7-9DBB-7639-DF91-017644798E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921" y="1924552"/>
            <a:ext cx="8055439" cy="4148445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Here is a TF-IDF </a:t>
            </a:r>
            <a:r>
              <a:rPr lang="en-US" altLang="ko-KR" sz="1800" dirty="0"/>
              <a:t>result like Vocabulary Size, </a:t>
            </a:r>
            <a:r>
              <a:rPr lang="en-US" altLang="ko-KR" dirty="0"/>
              <a:t>Matrix Shape and Top TF-IDF Words:</a:t>
            </a:r>
            <a:endParaRPr lang="en-US" sz="1800" dirty="0"/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800" dirty="0"/>
              <a:t>Here is a Word2Vec result like Vocabulary Size and Dimensions: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9C72BC09-EF38-B417-FB93-8F8993C0750C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5991DD-92B1-09C7-9514-17CB83BBE553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553AF-970F-FD0C-91D9-69A6FC9F1246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A644E-41E4-FA5D-86CD-06D5BD108971}"/>
              </a:ext>
            </a:extLst>
          </p:cNvPr>
          <p:cNvSpPr txBox="1"/>
          <p:nvPr/>
        </p:nvSpPr>
        <p:spPr>
          <a:xfrm>
            <a:off x="8692515" y="338189"/>
            <a:ext cx="1012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3.2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75D895D-BB64-6576-6E3D-50466C48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4" y="4040428"/>
            <a:ext cx="7601945" cy="617835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F3C093E3-85B1-04D0-1A6C-F37B0281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24" y="2500491"/>
            <a:ext cx="7601945" cy="9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6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19A2-FACF-BB41-0CAF-14343CB7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7" y="1155327"/>
            <a:ext cx="8541187" cy="984885"/>
          </a:xfrm>
        </p:spPr>
        <p:txBody>
          <a:bodyPr/>
          <a:lstStyle/>
          <a:p>
            <a:r>
              <a:rPr lang="en-US" b="1" dirty="0"/>
              <a:t>Key Results: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A7E9B2-03D3-EEE5-F35B-E3E09E3999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2340" y="1872793"/>
            <a:ext cx="8055439" cy="4148445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We built a system to classify news articles as real or fake using both Machine Learning and Deep Learning.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High accuracy, precision, and recall achieved.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accuracies of the models were </a:t>
            </a:r>
            <a:r>
              <a:rPr lang="en-US" sz="1800" b="1" dirty="0"/>
              <a:t>0.94 for Logistic Regression</a:t>
            </a:r>
            <a:r>
              <a:rPr lang="en-US" sz="1800" dirty="0"/>
              <a:t>, </a:t>
            </a:r>
            <a:r>
              <a:rPr lang="en-US" sz="1800" b="1" dirty="0"/>
              <a:t>0.95 for SVM</a:t>
            </a:r>
            <a:r>
              <a:rPr lang="en-US" sz="1800" dirty="0"/>
              <a:t>, and </a:t>
            </a:r>
            <a:r>
              <a:rPr lang="en-US" sz="1800" b="1" dirty="0"/>
              <a:t>0.96 for LSTM</a:t>
            </a:r>
            <a:r>
              <a:rPr lang="en-US" sz="1800" dirty="0"/>
              <a:t>, respectively.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Confusion matrix identified common misclassifications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Overall, both ML and DL approaches proved effective, but LSTM showed the best performance.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1FD04FD-79CD-0C2F-1DB9-9558AD3F3F40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5021D-1C55-88C9-6319-16CFE8F80035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C9C35-12B3-63FC-B11B-170C0E640597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08BFB-7376-259A-67C0-A66C8BE766DF}"/>
              </a:ext>
            </a:extLst>
          </p:cNvPr>
          <p:cNvSpPr txBox="1"/>
          <p:nvPr/>
        </p:nvSpPr>
        <p:spPr>
          <a:xfrm>
            <a:off x="8692516" y="338189"/>
            <a:ext cx="89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4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392D-37DF-85D8-0EE2-E1B4F93F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مستطيل 23">
            <a:extLst>
              <a:ext uri="{FF2B5EF4-FFF2-40B4-BE49-F238E27FC236}">
                <a16:creationId xmlns:a16="http://schemas.microsoft.com/office/drawing/2014/main" id="{2F796B13-491F-ED02-F4E5-2DBF2B170C44}"/>
              </a:ext>
            </a:extLst>
          </p:cNvPr>
          <p:cNvSpPr/>
          <p:nvPr/>
        </p:nvSpPr>
        <p:spPr>
          <a:xfrm>
            <a:off x="6407587" y="2055264"/>
            <a:ext cx="2682240" cy="4307186"/>
          </a:xfrm>
          <a:prstGeom prst="rect">
            <a:avLst/>
          </a:prstGeom>
          <a:noFill/>
          <a:ln w="19050">
            <a:solidFill>
              <a:srgbClr val="394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FEE2B9C5-44BB-4E80-45BB-E8F6A0620761}"/>
              </a:ext>
            </a:extLst>
          </p:cNvPr>
          <p:cNvSpPr/>
          <p:nvPr/>
        </p:nvSpPr>
        <p:spPr>
          <a:xfrm>
            <a:off x="3478587" y="2061552"/>
            <a:ext cx="2682240" cy="4307186"/>
          </a:xfrm>
          <a:prstGeom prst="rect">
            <a:avLst/>
          </a:prstGeom>
          <a:noFill/>
          <a:ln w="19050">
            <a:solidFill>
              <a:srgbClr val="394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A54267E0-E124-9401-ED11-53105A791A74}"/>
              </a:ext>
            </a:extLst>
          </p:cNvPr>
          <p:cNvSpPr/>
          <p:nvPr/>
        </p:nvSpPr>
        <p:spPr>
          <a:xfrm>
            <a:off x="548640" y="2055264"/>
            <a:ext cx="2682240" cy="4315056"/>
          </a:xfrm>
          <a:prstGeom prst="rect">
            <a:avLst/>
          </a:prstGeom>
          <a:noFill/>
          <a:ln w="19050">
            <a:solidFill>
              <a:srgbClr val="394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89F69-939D-896F-E9C5-D6D60EDD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097100"/>
            <a:ext cx="8541187" cy="984885"/>
          </a:xfrm>
        </p:spPr>
        <p:txBody>
          <a:bodyPr/>
          <a:lstStyle/>
          <a:p>
            <a:r>
              <a:rPr lang="en-US" b="1" dirty="0"/>
              <a:t>Models Results: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A17A43-D57F-CFD4-46CF-88996B86F5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1047" y="1589542"/>
            <a:ext cx="8055439" cy="473592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Here is some result like Confusion matrix and ROC curve </a:t>
            </a:r>
            <a:endParaRPr 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D576BDD-8869-0487-F6A3-D24FA92F0918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1A3560-02C0-05D8-A4FB-8510AB6856BD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D2809-68A8-FD86-2B9B-CCDDFA0C47CE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072E8-EFC3-839E-DC5B-FCF453F49417}"/>
              </a:ext>
            </a:extLst>
          </p:cNvPr>
          <p:cNvSpPr txBox="1"/>
          <p:nvPr/>
        </p:nvSpPr>
        <p:spPr>
          <a:xfrm>
            <a:off x="8692516" y="338189"/>
            <a:ext cx="1072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4.2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53C8470C-EA69-C206-8780-D7D56B03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3" t="2044" r="1604" b="2637"/>
          <a:stretch>
            <a:fillRect/>
          </a:stretch>
        </p:blipFill>
        <p:spPr>
          <a:xfrm>
            <a:off x="743633" y="2842389"/>
            <a:ext cx="2191873" cy="164592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CBFC19BF-EA57-2EAE-83B0-076A202F06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3" t="1414" r="1585"/>
          <a:stretch>
            <a:fillRect/>
          </a:stretch>
        </p:blipFill>
        <p:spPr>
          <a:xfrm>
            <a:off x="743632" y="4631735"/>
            <a:ext cx="2191873" cy="1645215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B6C2BA3C-D357-C722-3E0B-DB8FC7C6CC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6" t="1048" r="849" b="1459"/>
          <a:stretch>
            <a:fillRect/>
          </a:stretch>
        </p:blipFill>
        <p:spPr>
          <a:xfrm>
            <a:off x="3726295" y="2846726"/>
            <a:ext cx="2194560" cy="1645922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06456E58-3359-EB6F-39F6-4BEE0DA1B3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6" t="1094" r="849" b="1414"/>
          <a:stretch>
            <a:fillRect/>
          </a:stretch>
        </p:blipFill>
        <p:spPr>
          <a:xfrm>
            <a:off x="3726295" y="4631029"/>
            <a:ext cx="2194560" cy="1645921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06C2B7E0-71FA-97FC-EAB4-91F15B3081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97" t="2508" r="2712" b="1802"/>
          <a:stretch>
            <a:fillRect/>
          </a:stretch>
        </p:blipFill>
        <p:spPr>
          <a:xfrm>
            <a:off x="6570423" y="2842389"/>
            <a:ext cx="2194560" cy="1645920"/>
          </a:xfrm>
          <a:prstGeom prst="rect">
            <a:avLst/>
          </a:prstGeom>
        </p:spPr>
      </p:pic>
      <p:pic>
        <p:nvPicPr>
          <p:cNvPr id="19" name="صورة 18">
            <a:extLst>
              <a:ext uri="{FF2B5EF4-FFF2-40B4-BE49-F238E27FC236}">
                <a16:creationId xmlns:a16="http://schemas.microsoft.com/office/drawing/2014/main" id="{A65024CA-A53C-60FB-B877-8DD5D9C3B7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15" t="1093" r="1997" b="1413"/>
          <a:stretch>
            <a:fillRect/>
          </a:stretch>
        </p:blipFill>
        <p:spPr>
          <a:xfrm>
            <a:off x="6570423" y="4631030"/>
            <a:ext cx="2194560" cy="1645920"/>
          </a:xfrm>
          <a:prstGeom prst="rect">
            <a:avLst/>
          </a:prstGeom>
        </p:spPr>
      </p:pic>
      <p:sp>
        <p:nvSpPr>
          <p:cNvPr id="26" name="مربع نص 25">
            <a:extLst>
              <a:ext uri="{FF2B5EF4-FFF2-40B4-BE49-F238E27FC236}">
                <a16:creationId xmlns:a16="http://schemas.microsoft.com/office/drawing/2014/main" id="{A68D21AF-F766-F584-522D-FA2B88F807C7}"/>
              </a:ext>
            </a:extLst>
          </p:cNvPr>
          <p:cNvSpPr txBox="1"/>
          <p:nvPr/>
        </p:nvSpPr>
        <p:spPr>
          <a:xfrm>
            <a:off x="893409" y="2256120"/>
            <a:ext cx="199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Logistic Regression</a:t>
            </a:r>
            <a:endParaRPr lang="ar-SA" dirty="0"/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1A268420-874F-889C-B0CA-6F201F4DE34B}"/>
              </a:ext>
            </a:extLst>
          </p:cNvPr>
          <p:cNvSpPr txBox="1"/>
          <p:nvPr/>
        </p:nvSpPr>
        <p:spPr>
          <a:xfrm>
            <a:off x="4509638" y="2256120"/>
            <a:ext cx="627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SVM</a:t>
            </a:r>
            <a:endParaRPr lang="ar-SA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9BB3D072-BA33-7311-AD65-A36EA03D3312}"/>
              </a:ext>
            </a:extLst>
          </p:cNvPr>
          <p:cNvSpPr txBox="1"/>
          <p:nvPr/>
        </p:nvSpPr>
        <p:spPr>
          <a:xfrm>
            <a:off x="7315920" y="2277521"/>
            <a:ext cx="703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LSTM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2382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16F3-1AB4-0F56-FEE7-13838E1C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76" y="1440000"/>
            <a:ext cx="9193474" cy="984885"/>
          </a:xfrm>
        </p:spPr>
        <p:txBody>
          <a:bodyPr/>
          <a:lstStyle/>
          <a:p>
            <a:r>
              <a:rPr lang="en-US" b="1" dirty="0"/>
              <a:t>Application &amp; Future Impact: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4C5721-F1FE-18DF-B01E-17677BCA1B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351314"/>
            <a:ext cx="8055439" cy="4366727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Applications: </a:t>
            </a:r>
          </a:p>
          <a:p>
            <a:pPr marL="52540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Help media check news before publishing.</a:t>
            </a:r>
          </a:p>
          <a:p>
            <a:pPr marL="52540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Help social media stop spreading fake news.</a:t>
            </a:r>
          </a:p>
          <a:p>
            <a:pPr marL="52540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Provide tools (apps, extensions) for readers to check news.</a:t>
            </a:r>
          </a:p>
          <a:p>
            <a:pPr>
              <a:lnSpc>
                <a:spcPct val="10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Future work:</a:t>
            </a:r>
          </a:p>
          <a:p>
            <a:pPr marL="52540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Use larger and more diverse datasets.</a:t>
            </a:r>
          </a:p>
          <a:p>
            <a:pPr marL="52540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Add support for multiple languages.</a:t>
            </a:r>
          </a:p>
          <a:p>
            <a:pPr marL="52540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Expand to other areas like health and finance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AC8A4A6-19FA-879E-1187-0AD414E2899D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08A0FF-9D16-C5EE-6EBD-F856D6E4D578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93CEA-B5F5-A6EC-EBCC-6523667F9801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BA406-F6E4-16C2-BD39-F70C3083258F}"/>
              </a:ext>
            </a:extLst>
          </p:cNvPr>
          <p:cNvSpPr txBox="1"/>
          <p:nvPr/>
        </p:nvSpPr>
        <p:spPr>
          <a:xfrm>
            <a:off x="8692516" y="338189"/>
            <a:ext cx="89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87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8F77-AF64-6906-F899-C29757A4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1"/>
            <a:ext cx="8541187" cy="650056"/>
          </a:xfrm>
        </p:spPr>
        <p:txBody>
          <a:bodyPr/>
          <a:lstStyle/>
          <a:p>
            <a:r>
              <a:rPr lang="en-US" b="1" dirty="0"/>
              <a:t>Conclusion: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766434-8521-98E1-54D4-83716DF5A6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220687"/>
            <a:ext cx="8789663" cy="3377680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We successfully developed an AI system for fake news detection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Combining linguistic analysis with ML/DL models improved performance.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project can reduce the impact of misinformation.</a:t>
            </a:r>
          </a:p>
          <a:p>
            <a:pPr>
              <a:lnSpc>
                <a:spcPct val="150000"/>
              </a:lnSpc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future work can include scaling, multilingual support, and real-world deployment.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/>
              <a:t>Thank you for your attention — we welcome your questions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19C09FF5-AF27-9849-1421-DA7B9FF56172}"/>
              </a:ext>
            </a:extLst>
          </p:cNvPr>
          <p:cNvSpPr txBox="1">
            <a:spLocks/>
          </p:cNvSpPr>
          <p:nvPr/>
        </p:nvSpPr>
        <p:spPr>
          <a:xfrm>
            <a:off x="449467" y="307412"/>
            <a:ext cx="8541187" cy="4308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Fake News &amp; Misinformation Detector</a:t>
            </a:r>
            <a:endParaRPr lang="en-US" altLang="ko-KR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752E2-ED13-930D-FE19-30CA8EF4109F}"/>
              </a:ext>
            </a:extLst>
          </p:cNvPr>
          <p:cNvSpPr/>
          <p:nvPr/>
        </p:nvSpPr>
        <p:spPr>
          <a:xfrm>
            <a:off x="8484870" y="6492240"/>
            <a:ext cx="779145" cy="232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4F4F91-E572-9E8B-8223-6013CE05D143}"/>
              </a:ext>
            </a:extLst>
          </p:cNvPr>
          <p:cNvSpPr txBox="1"/>
          <p:nvPr/>
        </p:nvSpPr>
        <p:spPr>
          <a:xfrm>
            <a:off x="8595360" y="6447949"/>
            <a:ext cx="779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60" dirty="0">
                <a:solidFill>
                  <a:schemeClr val="bg1">
                    <a:lumMod val="65000"/>
                  </a:schemeClr>
                </a:solidFill>
                <a:effectLst/>
                <a:latin typeface="SamsungOne 400"/>
                <a:ea typeface="Malgun Gothic" panose="020B0503020000020004" pitchFamily="34" charset="-127"/>
                <a:cs typeface="Times New Roman" panose="02020603050405020304" pitchFamily="18" charset="0"/>
              </a:rPr>
              <a:t>Vision Group</a:t>
            </a:r>
            <a:endParaRPr lang="en-US" altLang="ko-KR" sz="2800" dirty="0">
              <a:solidFill>
                <a:schemeClr val="bg1">
                  <a:lumMod val="65000"/>
                </a:schemeClr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4E1BB4-8D76-6266-EE8A-49736F46AE29}"/>
              </a:ext>
            </a:extLst>
          </p:cNvPr>
          <p:cNvSpPr txBox="1"/>
          <p:nvPr/>
        </p:nvSpPr>
        <p:spPr>
          <a:xfrm>
            <a:off x="8692516" y="338189"/>
            <a:ext cx="89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One 700" panose="020B0803030303020204" pitchFamily="34" charset="0"/>
              </a:rPr>
              <a:t>UNIT 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71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357903"/>
      </p:ext>
    </p:extLst>
  </p:cSld>
  <p:clrMapOvr>
    <a:masterClrMapping/>
  </p:clrMapOvr>
</p:sld>
</file>

<file path=ppt/theme/theme1.xml><?xml version="1.0" encoding="utf-8"?>
<a:theme xmlns:a="http://schemas.openxmlformats.org/drawingml/2006/main" name="SIC_Template_AI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4768</TotalTime>
  <Words>569</Words>
  <Application>Microsoft Office PowerPoint</Application>
  <PresentationFormat>مخصص</PresentationFormat>
  <Paragraphs>92</Paragraphs>
  <Slides>12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12</vt:i4>
      </vt:variant>
    </vt:vector>
  </HeadingPairs>
  <TitlesOfParts>
    <vt:vector size="24" baseType="lpstr">
      <vt:lpstr>맑은 고딕</vt:lpstr>
      <vt:lpstr>Arial</vt:lpstr>
      <vt:lpstr>Calibri</vt:lpstr>
      <vt:lpstr>Samsung Sharp Sans</vt:lpstr>
      <vt:lpstr>Samsung Sharp Sans Bold</vt:lpstr>
      <vt:lpstr>Samsung Sharp Sans Medium</vt:lpstr>
      <vt:lpstr>SamsungOne 400</vt:lpstr>
      <vt:lpstr>SamsungOne 400C</vt:lpstr>
      <vt:lpstr>SamsungOne 700</vt:lpstr>
      <vt:lpstr>SamsungOne-400</vt:lpstr>
      <vt:lpstr>SIC_Template_AI</vt:lpstr>
      <vt:lpstr>Office Theme</vt:lpstr>
      <vt:lpstr>Samsung Innovation Campus</vt:lpstr>
      <vt:lpstr>عرض تقديمي في PowerPoint</vt:lpstr>
      <vt:lpstr>عرض تقديمي في PowerPoint</vt:lpstr>
      <vt:lpstr>     Introduction:</vt:lpstr>
      <vt:lpstr>Problem Statement:</vt:lpstr>
      <vt:lpstr>Solution Overview:</vt:lpstr>
      <vt:lpstr>TF-IDF &amp; Word2Vec Results:</vt:lpstr>
      <vt:lpstr>Key Results: </vt:lpstr>
      <vt:lpstr>Models Results: </vt:lpstr>
      <vt:lpstr>Application &amp; Future Impact: </vt:lpstr>
      <vt:lpstr>Conclusion: 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AHMED IBRAHIM MUSLEH ALBELADI</cp:lastModifiedBy>
  <cp:revision>2074</cp:revision>
  <dcterms:created xsi:type="dcterms:W3CDTF">2019-07-06T14:12:49Z</dcterms:created>
  <dcterms:modified xsi:type="dcterms:W3CDTF">2025-09-12T15:12:20Z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